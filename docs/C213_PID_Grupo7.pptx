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Comforta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omfortaa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Comforta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777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832104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886968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941832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996696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1051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106424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11672605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1216152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7772400" y="54864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7772400" y="109728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7772400" y="164592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7772400" y="219456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7772400" y="274320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>
            <a:off x="7772400" y="329184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>
            <a:off x="7772400" y="384048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7772400" y="438912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7772400" y="493776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3"/>
          <p:cNvCxnSpPr/>
          <p:nvPr/>
        </p:nvCxnSpPr>
        <p:spPr>
          <a:xfrm>
            <a:off x="7772400" y="548640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3"/>
          <p:cNvCxnSpPr/>
          <p:nvPr/>
        </p:nvCxnSpPr>
        <p:spPr>
          <a:xfrm>
            <a:off x="7772400" y="603504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3"/>
          <p:cNvCxnSpPr/>
          <p:nvPr/>
        </p:nvCxnSpPr>
        <p:spPr>
          <a:xfrm>
            <a:off x="7772400" y="6583680"/>
            <a:ext cx="4419295" cy="0"/>
          </a:xfrm>
          <a:prstGeom prst="straightConnector1">
            <a:avLst/>
          </a:prstGeom>
          <a:noFill/>
          <a:ln cap="flat" cmpd="sng" w="9525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3"/>
          <p:cNvSpPr/>
          <p:nvPr/>
        </p:nvSpPr>
        <p:spPr>
          <a:xfrm>
            <a:off x="640080" y="11887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C213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Identificação e Controle PID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40080" y="3200393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F1F2"/>
                </a:solidFill>
                <a:latin typeface="Calibri"/>
                <a:ea typeface="Calibri"/>
                <a:cs typeface="Calibri"/>
                <a:sym typeface="Calibri"/>
              </a:rPr>
              <a:t>Método de Smith  ·  Sintonia IMC e ITAE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GRUPO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40080" y="521208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Daví Padula Rabelo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Kauã Victor Garcia Siécola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Matheus Renó Torres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// 01  ·  visão geral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Objetivo do projeto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48640" y="1554480"/>
            <a:ext cx="6766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Integrar identificação de sistemas e controle PID em uma aplicação de IHM em Python, capaz de carregar dados experimentais, identificar a planta, sintonizar o controlador e analisar a resposta em malha fechada.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680960" y="1554480"/>
            <a:ext cx="4023360" cy="114300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680960" y="1554480"/>
            <a:ext cx="73152" cy="1143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7909560" y="1691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49640" y="166420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Carregar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549640" y="20574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datasets .mat com dados experimentais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680960" y="2834640"/>
            <a:ext cx="4023360" cy="114300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680960" y="2834640"/>
            <a:ext cx="73152" cy="1143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909560" y="297180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549640" y="29443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Identificar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549640" y="33375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modelo FOPDT pelo método de Smith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680960" y="4114800"/>
            <a:ext cx="4023360" cy="114300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680960" y="4114800"/>
            <a:ext cx="73152" cy="1143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909560" y="425196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549640" y="4224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Sintonizar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549640" y="46177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PID via IMC ou ITAE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680960" y="5394960"/>
            <a:ext cx="4023360" cy="114300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680960" y="5394960"/>
            <a:ext cx="73152" cy="1143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909560" y="55321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549640" y="550468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Avaliar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549640" y="589788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tr, ts, Mp e ess em malha fechada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8665" y="306326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8665" y="3337580"/>
            <a:ext cx="676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Python  ·  PyQt5  ·  NumPy  ·  SciPy  ·  Matplotlib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Grupo 7  ·  C213 — Sistemas de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2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// 02  ·  modelo matemático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Método de Smith — identificação FOPDT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Modelo de primeira ordem com atraso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8640" y="1920240"/>
            <a:ext cx="5486400" cy="91440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48640" y="192024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G(s) = K · e</a:t>
            </a:r>
            <a:r>
              <a:rPr b="0" baseline="30000" i="1" lang="en-US" sz="2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−θs</a:t>
            </a:r>
            <a:r>
              <a:rPr b="0" i="1" lang="en-US" sz="2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  /  (τ·s + 1)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Pontos da resposta normalizada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8640" y="34290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b="0" baseline="-25000" i="0" lang="en-US" sz="1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b="0" i="1" lang="en-US" sz="1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(t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₁) = 28,3%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0" i="1" lang="en-US" sz="1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b="0" baseline="-25000" i="0" lang="en-US" sz="1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b="0" i="1" lang="en-US" sz="1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(t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₂) = 63,2%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8640" y="4114800"/>
            <a:ext cx="5486400" cy="20116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77240" y="42062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Parâmetros estimados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77240" y="46177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200"/>
              <a:buFont typeface="Cambria"/>
              <a:buNone/>
            </a:pPr>
            <a:r>
              <a:rPr b="1" i="1" lang="en-US" sz="22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K  =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874520" y="46177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Δy / Δu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77240" y="51206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200"/>
              <a:buFont typeface="Cambria"/>
              <a:buNone/>
            </a:pPr>
            <a:r>
              <a:rPr b="1" i="1" lang="en-US" sz="22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τ  =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874520" y="51206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1,5 · (t₂ − t₁)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77240" y="56235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200"/>
              <a:buFont typeface="Cambria"/>
              <a:buNone/>
            </a:pPr>
            <a:r>
              <a:rPr b="1" i="1" lang="en-US" sz="22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θ  =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874520" y="56235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(t₂ − τ)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Grupo 7  ·  C213 — Sistemas de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1069" y="1874524"/>
            <a:ext cx="4791130" cy="439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// 03  ·  identificação em código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48640" y="68580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Implementação — método de Smith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48640" y="1554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Resumo do algoritmo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1874520"/>
            <a:ext cx="42062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  <a:t>Tratamento de entrada</a:t>
            </a: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  <a:t> · np.asarray + squeeze para aceitar vetores e matrizes coluna do .mat. </a:t>
            </a: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  <a:t>Detecção do degrau </a:t>
            </a: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  <a:t>· primeira variação relevante em np.diff(u), com proteção para Δu ≈ 0. </a:t>
            </a: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  <a:t>Estimativa dos regimes</a:t>
            </a: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  <a:t> · y₀ = média antes do degrau · y_∞ = média das últimas N/10 amostras </a:t>
            </a: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  <a:t>Parâmetros do modelo </a:t>
            </a:r>
            <a:b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600">
                <a:solidFill>
                  <a:srgbClr val="1A1A2E"/>
                </a:solidFill>
                <a:latin typeface="Comfortaa"/>
                <a:ea typeface="Comfortaa"/>
                <a:cs typeface="Comfortaa"/>
                <a:sym typeface="Comfortaa"/>
              </a:rPr>
              <a:t>· K, τ e θ pelas fórmulas de Smith. </a:t>
            </a:r>
            <a:endParaRPr i="0" sz="16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Grupo 7  ·  C213 — Sistemas de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113" y="1493525"/>
            <a:ext cx="6372225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// 04  ·  sintonia analítica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Sintonia IMC — Internal Model Control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1554480"/>
            <a:ext cx="5212200" cy="45720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7724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Equações da sintonia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77240" y="21945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600"/>
              <a:buFont typeface="Cambria"/>
              <a:buNone/>
            </a:pPr>
            <a:r>
              <a:rPr b="1" i="1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="1" baseline="-25000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  =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194560" y="21945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(2τ + θ)  /  [ K · (2λ + θ) 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77240" y="30632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600"/>
              <a:buFont typeface="Cambria"/>
              <a:buNone/>
            </a:pPr>
            <a:r>
              <a:rPr b="1" i="1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baseline="-25000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b="1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  =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194560" y="30632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τ + θ/2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77240" y="39319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600"/>
              <a:buFont typeface="Cambria"/>
              <a:buNone/>
            </a:pPr>
            <a:r>
              <a:rPr b="1" i="1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baseline="-25000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b="1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  =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194560" y="39319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τ·θ  /  (2τ + θ)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777240" y="4846320"/>
            <a:ext cx="475488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7"/>
          <p:cNvSpPr/>
          <p:nvPr/>
        </p:nvSpPr>
        <p:spPr>
          <a:xfrm>
            <a:off x="777240" y="49834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λ — parâmetro de robustez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77240" y="5285232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1F2"/>
                </a:solidFill>
                <a:latin typeface="Calibri"/>
                <a:ea typeface="Calibri"/>
                <a:cs typeface="Calibri"/>
                <a:sym typeface="Calibri"/>
              </a:rPr>
              <a:t>λ pequeno → resposta rápida, sensível a ruído.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8F1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1F2"/>
                </a:solidFill>
                <a:latin typeface="Calibri"/>
                <a:ea typeface="Calibri"/>
                <a:cs typeface="Calibri"/>
                <a:sym typeface="Calibri"/>
              </a:rPr>
              <a:t>λ grande → resposta lenta, mais robusta.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035040" y="4023360"/>
            <a:ext cx="5669280" cy="210312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035040" y="4023360"/>
            <a:ext cx="73152" cy="210312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263640" y="41605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onsolas"/>
              <a:buNone/>
            </a:pPr>
            <a:r>
              <a:rPr b="1" i="0" lang="en-US" sz="20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IMC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263640" y="4526280"/>
            <a:ext cx="5303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Quando 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 deseja controlar a agressividade da resposta variando</a:t>
            </a: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λ.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Boa resposta a degrau com baixo sobressinal.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Grupo 7  ·  C213 — Sistemas de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5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599" y="1872625"/>
            <a:ext cx="5900125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// 05  ·  sintonia empírica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Sintonia ITAE — minimização do erro ponderado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48640" y="15544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Critério de desempenho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8640" y="2926080"/>
            <a:ext cx="5212080" cy="32004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77240" y="30632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Fórmulas (Grupo 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77240" y="35204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600"/>
              <a:buFont typeface="Cambria"/>
              <a:buNone/>
            </a:pPr>
            <a:r>
              <a:rPr b="1" i="1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="1" baseline="-25000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  =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103120" y="352044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(0,965 / K) · (θ/τ) ^ (−0,85)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77240" y="42976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600"/>
              <a:buFont typeface="Cambria"/>
              <a:buNone/>
            </a:pPr>
            <a:r>
              <a:rPr b="1" i="1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baseline="-25000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b="1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  =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103120" y="429768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τ / [ 0,796 − 0,147 · (θ/τ)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77240" y="50749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600"/>
              <a:buFont typeface="Cambria"/>
              <a:buNone/>
            </a:pPr>
            <a:r>
              <a:rPr b="1" i="1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baseline="-25000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b="1" i="0" lang="en-US" sz="2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  =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103120" y="507492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0,308 · τ · (θ/τ) ^ 0,929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035040" y="4023360"/>
            <a:ext cx="5669280" cy="210312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035040" y="4023360"/>
            <a:ext cx="73152" cy="2103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263640" y="41605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83F"/>
              </a:buClr>
              <a:buSzPts val="1300"/>
              <a:buFont typeface="Consolas"/>
              <a:buNone/>
            </a:pPr>
            <a:r>
              <a:rPr b="1" i="0" lang="en-US" sz="2000" u="none" cap="none" strike="noStrike">
                <a:solidFill>
                  <a:srgbClr val="B8483F"/>
                </a:solidFill>
                <a:latin typeface="Consolas"/>
                <a:ea typeface="Consolas"/>
                <a:cs typeface="Consolas"/>
                <a:sym typeface="Consolas"/>
              </a:rPr>
              <a:t>ITAE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263640" y="4526280"/>
            <a:ext cx="5303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ITAE não usa λ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,</a:t>
            </a: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sintonia totalmente determinada pelo modelo FOPDT.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Tende a respostas mais rápidas, com leve sobressinal.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Grupo 7  ·  C213 — Sistemas de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295" y="1958343"/>
            <a:ext cx="5438775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// 06  ·  malha aberta vs. malha fechada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Resultados — sintonia IMC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9600" y="1554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Modelo identificado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229600" y="1874520"/>
            <a:ext cx="3474720" cy="14173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8458200" y="19659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ambria"/>
              <a:buNone/>
            </a:pPr>
            <a:r>
              <a:rPr b="1" i="1" lang="en-US" sz="1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9418320" y="19659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0,7685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458200" y="227685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ambria"/>
              <a:buNone/>
            </a:pPr>
            <a:r>
              <a:rPr b="1" i="1" lang="en-US" sz="1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9418320" y="227685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13,9436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458200" y="258775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ambria"/>
              <a:buNone/>
            </a:pPr>
            <a:r>
              <a:rPr b="1" i="1" lang="en-US" sz="1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9418320" y="258775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2,0176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8458200" y="2898648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ambria"/>
              <a:buNone/>
            </a:pPr>
            <a:r>
              <a:rPr b="1" i="1" lang="en-US" sz="16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EQM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9418320" y="289864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0,2057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229600" y="3520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Ganhos PID — IMC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8229600" y="3840480"/>
            <a:ext cx="3474720" cy="128016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8229600" y="3840480"/>
            <a:ext cx="73152" cy="128016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8458200" y="39319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mbria"/>
              <a:buNone/>
            </a:pPr>
            <a:r>
              <a:rPr b="1" i="1" lang="en-US" sz="1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Kp </a:t>
            </a:r>
            <a:r>
              <a:rPr b="0" i="0" lang="en-US" sz="1400" u="none" cap="none" strike="noStrike">
                <a:solidFill>
                  <a:srgbClr val="5A6B7B"/>
                </a:solidFill>
                <a:latin typeface="Cambria"/>
                <a:ea typeface="Cambria"/>
                <a:cs typeface="Cambria"/>
                <a:sym typeface="Cambria"/>
              </a:rPr>
              <a:t>  ·  </a:t>
            </a:r>
            <a:r>
              <a:rPr b="1" i="1" lang="en-US" sz="1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Ti </a:t>
            </a:r>
            <a:r>
              <a:rPr b="0" i="0" lang="en-US" sz="1400" u="none" cap="none" strike="noStrike">
                <a:solidFill>
                  <a:srgbClr val="5A6B7B"/>
                </a:solidFill>
                <a:latin typeface="Cambria"/>
                <a:ea typeface="Cambria"/>
                <a:cs typeface="Cambria"/>
                <a:sym typeface="Cambria"/>
              </a:rPr>
              <a:t>  ·  </a:t>
            </a:r>
            <a:r>
              <a:rPr b="1" i="1" lang="en-US" sz="1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Td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458200" y="43434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Calculados a partir de K, τ, 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 do parâmetro λ escolhido.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229600" y="53492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Métricas em malha fechada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229600" y="566928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tempo de subida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ts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tempo de acomodação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Mp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sobressinal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ess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erro em regime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Grupo 7  ·  C213 — Sistemas de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7" y="1745725"/>
            <a:ext cx="7956242" cy="41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// 07  ·  malha aberta vs. malha fechada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Resultados — sintonia ITAE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8229600" y="1554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83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8483F"/>
                </a:solidFill>
                <a:latin typeface="Consolas"/>
                <a:ea typeface="Consolas"/>
                <a:cs typeface="Consolas"/>
                <a:sym typeface="Consolas"/>
              </a:rPr>
              <a:t>Característica do 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8229600" y="1874520"/>
            <a:ext cx="3474720" cy="14173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8458200" y="2011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2200"/>
              <a:buFont typeface="Cambria"/>
              <a:buNone/>
            </a:pPr>
            <a:r>
              <a:rPr b="1" i="1" lang="en-US" sz="2200" u="none" cap="none" strike="noStrike">
                <a:solidFill>
                  <a:srgbClr val="F96167"/>
                </a:solidFill>
                <a:latin typeface="Cambria"/>
                <a:ea typeface="Cambria"/>
                <a:cs typeface="Cambria"/>
                <a:sym typeface="Cambria"/>
              </a:rPr>
              <a:t>λ 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N/A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8458200" y="251460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8F1F2"/>
                </a:solidFill>
                <a:latin typeface="Calibri"/>
                <a:ea typeface="Calibri"/>
                <a:cs typeface="Calibri"/>
                <a:sym typeface="Calibri"/>
              </a:rPr>
              <a:t>ITAE define Kp, Ti e Td diretamente a partir do modelo identificado, sem ajuste manual.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229600" y="3520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83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B8483F"/>
                </a:solidFill>
                <a:latin typeface="Consolas"/>
                <a:ea typeface="Consolas"/>
                <a:cs typeface="Consolas"/>
                <a:sym typeface="Consolas"/>
              </a:rPr>
              <a:t>Comparativo qualitativo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229600" y="3886200"/>
            <a:ext cx="3474720" cy="41148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8229600" y="3886200"/>
            <a:ext cx="73152" cy="41148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8412480" y="38862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IMC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9326880" y="38862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ajustável via 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229600" y="4389120"/>
            <a:ext cx="3474720" cy="411480"/>
          </a:xfrm>
          <a:prstGeom prst="rect">
            <a:avLst/>
          </a:prstGeom>
          <a:solidFill>
            <a:srgbClr val="E8F1F2"/>
          </a:solidFill>
          <a:ln cap="flat" cmpd="sng" w="12700">
            <a:solidFill>
              <a:srgbClr val="E8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8229600" y="4389120"/>
            <a:ext cx="73152" cy="41148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8412480" y="43891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ITAE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326880" y="43891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fixo, mais rápido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Grupo 7  ·  C213 — Sistemas de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5" y="1637555"/>
            <a:ext cx="7924802" cy="4085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